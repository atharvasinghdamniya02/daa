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852160" cy="3794760"/>
          </a:xfrm>
          <a:prstGeom prst="roundRect">
            <a:avLst>
              <a:gd name="adj" fmla="val 385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77240" y="905256"/>
            <a:ext cx="539496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8696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8696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4768" y="4645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4389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097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ALGORITHMS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371600"/>
            <a:ext cx="521208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Spanning Tree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06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using Prim’s Algorithm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connected, weighted, undirected graph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493008"/>
            <a:ext cx="89611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3429000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3493008"/>
            <a:ext cx="89611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611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8130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Atharva Singh Damniya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25070521238   ·   Batch D2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FOUNDATIONS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a Minimum Spanning Tree?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33272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// PRIM’S ALGORITHM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4754880" cy="3337560"/>
          </a:xfrm>
          <a:prstGeom prst="roundRect">
            <a:avLst>
              <a:gd name="adj" fmla="val 438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408176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469087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443484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1554480"/>
            <a:ext cx="4206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connects all V vertices using exactly V − 1 edges and no cycles.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MST is the spanning tree with the smallest possible total edge weight.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Think: the cheapest way to link every village with roads.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77840" y="137160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1408176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328" y="2359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2103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644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− 1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1463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in every MST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51460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2551176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532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532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3502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3246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06440" y="2606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2606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allowed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365760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3694176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3675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3675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9328" y="4645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0" y="4389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06440" y="3749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Σw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3749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edge weight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Prim’s Algorithm Thinks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33272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// PRIM’S ALGORITHM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560320" cy="2423160"/>
          </a:xfrm>
          <a:prstGeom prst="roundRect">
            <a:avLst>
              <a:gd name="adj" fmla="val 6038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453896"/>
            <a:ext cx="21031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3560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3560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382219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356616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1618488"/>
            <a:ext cx="694944" cy="69494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FF2BA6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F2BA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FF2BA6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788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vertex as the root of the growing tree.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1417320"/>
            <a:ext cx="2560320" cy="2423160"/>
          </a:xfrm>
          <a:prstGeom prst="roundRect">
            <a:avLst>
              <a:gd name="adj" fmla="val 6038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1453896"/>
            <a:ext cx="21031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43560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143560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41848" y="382219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356616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38728" y="1618488"/>
            <a:ext cx="694944" cy="69494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00E5FF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3611880" y="1691640"/>
            <a:ext cx="548640" cy="548640"/>
          </a:xfrm>
          <a:prstGeom prst="ellipse">
            <a:avLst/>
          </a:prstGeom>
          <a:solidFill>
            <a:srgbClr val="00E5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6118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Choose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2788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cheapest edge joining the tree to an outside vertex.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417320"/>
            <a:ext cx="2560320" cy="2423160"/>
          </a:xfrm>
          <a:prstGeom prst="roundRect">
            <a:avLst>
              <a:gd name="adj" fmla="val 6038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1453896"/>
            <a:ext cx="21031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43560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43560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382219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356616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1618488"/>
            <a:ext cx="694944" cy="69494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8B5CFF"/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8B5C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Repeat</a:t>
            </a: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2788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that edge and vertex. Stop at V − 1 edges.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023360"/>
            <a:ext cx="8046720" cy="685800"/>
          </a:xfrm>
          <a:prstGeom prst="roundRect">
            <a:avLst>
              <a:gd name="adj" fmla="val 21333"/>
            </a:avLst>
          </a:prstGeom>
          <a:solidFill>
            <a:srgbClr val="1A1240">
              <a:alpha val="8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7240" y="4059936"/>
            <a:ext cx="75895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404164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04164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9328" y="469087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0" y="443484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Cut property: the lightest edge crossing any cut belongs to some MST, so greedy is safe.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THE ALGORITHM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Prim’s with a Min-Heap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33272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// PRIM’S ALGORITHM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5120640" cy="3337560"/>
          </a:xfrm>
          <a:prstGeom prst="roundRect">
            <a:avLst>
              <a:gd name="adj" fmla="val 438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408176"/>
            <a:ext cx="466344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3248" y="469087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443484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155448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Prim(G, start):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key[v] = ∞ for all v;  key[start] = 0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= min-heap of all vertices by key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Q is not empty: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extract-min(Q)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neighbour v of u: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v in Q and w(u,v) &lt; key[v]: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key[v] = w(u,v);  parent[v] = u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B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edges (parent[v], v)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651760" cy="1005840"/>
          </a:xfrm>
          <a:prstGeom prst="roundRect">
            <a:avLst>
              <a:gd name="adj" fmla="val 1454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408176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328" y="2359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2103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heap + adjacency 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514600"/>
            <a:ext cx="2651760" cy="1005840"/>
          </a:xfrm>
          <a:prstGeom prst="roundRect">
            <a:avLst>
              <a:gd name="adj" fmla="val 1454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551176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532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532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3502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3246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624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O(V²)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matrix, no heap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3657600"/>
            <a:ext cx="2651760" cy="1005840"/>
          </a:xfrm>
          <a:prstGeom prst="roundRect">
            <a:avLst>
              <a:gd name="adj" fmla="val 14545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3694176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675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675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9328" y="464515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0" y="438912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+ V log V)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heap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WORKED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Prim’s in Action, Start at 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33272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// PRIM’S ALGORITHM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4754880" cy="3383280"/>
          </a:xfrm>
          <a:prstGeom prst="roundRect">
            <a:avLst>
              <a:gd name="adj" fmla="val 432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362456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4416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4416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469087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443484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51560" y="1965960"/>
            <a:ext cx="1188720" cy="1051560"/>
          </a:xfrm>
          <a:prstGeom prst="line">
            <a:avLst/>
          </a:prstGeom>
          <a:noFill/>
          <a:ln w="15875">
            <a:solidFill>
              <a:srgbClr val="6A5F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51560" y="3017520"/>
            <a:ext cx="1188720" cy="1097280"/>
          </a:xfrm>
          <a:prstGeom prst="line">
            <a:avLst/>
          </a:prstGeom>
          <a:noFill/>
          <a:ln w="44450">
            <a:solidFill>
              <a:srgbClr val="FF2B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1965960"/>
            <a:ext cx="0" cy="2148840"/>
          </a:xfrm>
          <a:prstGeom prst="line">
            <a:avLst/>
          </a:prstGeom>
          <a:noFill/>
          <a:ln w="44450">
            <a:solidFill>
              <a:srgbClr val="FF2B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1965960"/>
            <a:ext cx="1463040" cy="0"/>
          </a:xfrm>
          <a:prstGeom prst="line">
            <a:avLst/>
          </a:prstGeom>
          <a:noFill/>
          <a:ln w="44450">
            <a:solidFill>
              <a:srgbClr val="FF2B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240280" y="1965960"/>
            <a:ext cx="1463040" cy="2148840"/>
          </a:xfrm>
          <a:prstGeom prst="line">
            <a:avLst/>
          </a:prstGeom>
          <a:noFill/>
          <a:ln w="15875">
            <a:solidFill>
              <a:srgbClr val="6A5FB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40280" y="4114800"/>
            <a:ext cx="1463040" cy="0"/>
          </a:xfrm>
          <a:prstGeom prst="line">
            <a:avLst/>
          </a:prstGeom>
          <a:noFill/>
          <a:ln w="15875">
            <a:solidFill>
              <a:srgbClr val="6A5FB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03320" y="1965960"/>
            <a:ext cx="0" cy="2148840"/>
          </a:xfrm>
          <a:prstGeom prst="line">
            <a:avLst/>
          </a:prstGeom>
          <a:noFill/>
          <a:ln w="44450">
            <a:solidFill>
              <a:srgbClr val="FF2B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1965960"/>
            <a:ext cx="1005840" cy="1051560"/>
          </a:xfrm>
          <a:prstGeom prst="line">
            <a:avLst/>
          </a:prstGeom>
          <a:noFill/>
          <a:ln w="15875">
            <a:solidFill>
              <a:srgbClr val="6A5FB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3703320" y="3017520"/>
            <a:ext cx="1005840" cy="1097280"/>
          </a:xfrm>
          <a:prstGeom prst="line">
            <a:avLst/>
          </a:prstGeom>
          <a:noFill/>
          <a:ln w="44450">
            <a:solidFill>
              <a:srgbClr val="FF2B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90472" y="238201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6A5F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90472" y="23820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90472" y="345643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FF2B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90472" y="34564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84832" y="293065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FF2B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84832" y="29306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16352" y="185623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FF2B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16352" y="18562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16352" y="293065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6A5FB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16352" y="29306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16352" y="400507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6A5FB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16352" y="40050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47872" y="293065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FF2B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47872" y="29306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50792" y="238201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6A5FB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050792" y="23820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050792" y="3456432"/>
            <a:ext cx="310896" cy="219456"/>
          </a:xfrm>
          <a:prstGeom prst="roundRect">
            <a:avLst>
              <a:gd name="adj" fmla="val 41667"/>
            </a:avLst>
          </a:prstGeom>
          <a:solidFill>
            <a:srgbClr val="1A1240"/>
          </a:solidFill>
          <a:ln w="12700">
            <a:solidFill>
              <a:srgbClr val="FF2B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50792" y="34564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8096" y="2734056"/>
            <a:ext cx="566928" cy="566928"/>
          </a:xfrm>
          <a:prstGeom prst="ellipse">
            <a:avLst/>
          </a:prstGeom>
          <a:solidFill>
            <a:srgbClr val="1A1240">
              <a:alpha val="0"/>
            </a:srgbClr>
          </a:solidFill>
          <a:ln w="12700">
            <a:solidFill>
              <a:srgbClr val="FFD23F"/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241A5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956816" y="1682496"/>
            <a:ext cx="566928" cy="566928"/>
          </a:xfrm>
          <a:prstGeom prst="ellipse">
            <a:avLst/>
          </a:prstGeom>
          <a:solidFill>
            <a:srgbClr val="1A1240">
              <a:alpha val="0"/>
            </a:srgbClr>
          </a:solidFill>
          <a:ln w="12700">
            <a:solidFill>
              <a:srgbClr val="FFD23F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2011680" y="1737360"/>
            <a:ext cx="457200" cy="457200"/>
          </a:xfrm>
          <a:prstGeom prst="ellipse">
            <a:avLst/>
          </a:prstGeom>
          <a:solidFill>
            <a:srgbClr val="241A5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2011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956816" y="3831336"/>
            <a:ext cx="566928" cy="566928"/>
          </a:xfrm>
          <a:prstGeom prst="ellipse">
            <a:avLst/>
          </a:prstGeom>
          <a:solidFill>
            <a:srgbClr val="1A1240">
              <a:alpha val="0"/>
            </a:srgbClr>
          </a:solidFill>
          <a:ln w="12700">
            <a:solidFill>
              <a:srgbClr val="FFD23F"/>
            </a:solidFill>
            <a:prstDash val="sysDot"/>
          </a:ln>
        </p:spPr>
      </p:sp>
      <p:sp>
        <p:nvSpPr>
          <p:cNvPr id="49" name="Shape 47"/>
          <p:cNvSpPr/>
          <p:nvPr/>
        </p:nvSpPr>
        <p:spPr>
          <a:xfrm>
            <a:off x="2011680" y="3886200"/>
            <a:ext cx="457200" cy="457200"/>
          </a:xfrm>
          <a:prstGeom prst="ellipse">
            <a:avLst/>
          </a:prstGeom>
          <a:solidFill>
            <a:srgbClr val="241A5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20116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419856" y="1682496"/>
            <a:ext cx="566928" cy="566928"/>
          </a:xfrm>
          <a:prstGeom prst="ellipse">
            <a:avLst/>
          </a:prstGeom>
          <a:solidFill>
            <a:srgbClr val="1A1240">
              <a:alpha val="0"/>
            </a:srgbClr>
          </a:solidFill>
          <a:ln w="12700">
            <a:solidFill>
              <a:srgbClr val="FFD23F"/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3474720" y="1737360"/>
            <a:ext cx="457200" cy="457200"/>
          </a:xfrm>
          <a:prstGeom prst="ellipse">
            <a:avLst/>
          </a:prstGeom>
          <a:solidFill>
            <a:srgbClr val="241A5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4747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419856" y="3831336"/>
            <a:ext cx="566928" cy="566928"/>
          </a:xfrm>
          <a:prstGeom prst="ellipse">
            <a:avLst/>
          </a:prstGeom>
          <a:solidFill>
            <a:srgbClr val="1A1240">
              <a:alpha val="0"/>
            </a:srgbClr>
          </a:solidFill>
          <a:ln w="12700">
            <a:solidFill>
              <a:srgbClr val="FFD23F"/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3474720" y="3886200"/>
            <a:ext cx="457200" cy="457200"/>
          </a:xfrm>
          <a:prstGeom prst="ellipse">
            <a:avLst/>
          </a:prstGeom>
          <a:solidFill>
            <a:srgbClr val="241A5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34747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425696" y="2734056"/>
            <a:ext cx="566928" cy="566928"/>
          </a:xfrm>
          <a:prstGeom prst="ellipse">
            <a:avLst/>
          </a:prstGeom>
          <a:solidFill>
            <a:srgbClr val="1A1240">
              <a:alpha val="0"/>
            </a:srgbClr>
          </a:solidFill>
          <a:ln w="12700">
            <a:solidFill>
              <a:srgbClr val="FFD23F"/>
            </a:solidFill>
            <a:prstDash val="sysDot"/>
          </a:ln>
        </p:spPr>
      </p:sp>
      <p:sp>
        <p:nvSpPr>
          <p:cNvPr id="58" name="Shape 56"/>
          <p:cNvSpPr/>
          <p:nvPr/>
        </p:nvSpPr>
        <p:spPr>
          <a:xfrm>
            <a:off x="4480560" y="2788920"/>
            <a:ext cx="457200" cy="457200"/>
          </a:xfrm>
          <a:prstGeom prst="ellipse">
            <a:avLst/>
          </a:prstGeom>
          <a:solidFill>
            <a:srgbClr val="241A5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44805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577840" y="1325880"/>
            <a:ext cx="3017520" cy="384048"/>
          </a:xfrm>
          <a:prstGeom prst="roundRect">
            <a:avLst>
              <a:gd name="adj" fmla="val 38095"/>
            </a:avLst>
          </a:prstGeom>
          <a:solidFill>
            <a:srgbClr val="1A1240">
              <a:alpha val="9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806440" y="1362456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7840" y="134416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0" y="134416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9328" y="1691640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1435608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76072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         Edge          Weight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577840" y="1801368"/>
            <a:ext cx="3017520" cy="402336"/>
          </a:xfrm>
          <a:prstGeom prst="roundRect">
            <a:avLst>
              <a:gd name="adj" fmla="val 3636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806440" y="1837944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77840" y="1819656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77840" y="1819656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39328" y="2185416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95360" y="1929384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760720" y="18013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6400800" y="18013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C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7818120" y="18013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577840" y="2276856"/>
            <a:ext cx="3017520" cy="402336"/>
          </a:xfrm>
          <a:prstGeom prst="roundRect">
            <a:avLst>
              <a:gd name="adj" fmla="val 3636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806440" y="2313432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77840" y="2295144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77840" y="2295144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39328" y="2660904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95360" y="2404872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760720" y="22768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6400800" y="22768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– B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818120" y="227685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577840" y="2752344"/>
            <a:ext cx="3017520" cy="402336"/>
          </a:xfrm>
          <a:prstGeom prst="roundRect">
            <a:avLst>
              <a:gd name="adj" fmla="val 3636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5806440" y="2788920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577840" y="2770632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577840" y="2770632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339328" y="313639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95360" y="288036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760720" y="27523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6400800" y="2752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– D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818120" y="27523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577840" y="3227832"/>
            <a:ext cx="3017520" cy="402336"/>
          </a:xfrm>
          <a:prstGeom prst="roundRect">
            <a:avLst>
              <a:gd name="adj" fmla="val 3636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5806440" y="3264408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577840" y="3246120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577840" y="3246120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339328" y="3611880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95360" y="3355848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760720" y="3227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6400800" y="32278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– E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7818120" y="32278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577840" y="3703320"/>
            <a:ext cx="3017520" cy="402336"/>
          </a:xfrm>
          <a:prstGeom prst="roundRect">
            <a:avLst>
              <a:gd name="adj" fmla="val 36364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5806440" y="3739896"/>
            <a:ext cx="25603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77840" y="372160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577840" y="372160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339328" y="4087368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595360" y="3831336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5760720" y="3703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10" name="Text 108"/>
          <p:cNvSpPr txBox="1"/>
          <p:nvPr/>
        </p:nvSpPr>
        <p:spPr>
          <a:xfrm>
            <a:off x="6400800" y="37033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– F</a:t>
            </a:r>
            <a:endParaRPr lang="en-US" sz="1400" dirty="0"/>
          </a:p>
        </p:txBody>
      </p:sp>
      <p:sp>
        <p:nvSpPr>
          <p:cNvPr id="111" name="Text 109"/>
          <p:cNvSpPr txBox="1"/>
          <p:nvPr/>
        </p:nvSpPr>
        <p:spPr>
          <a:xfrm>
            <a:off x="7818120" y="37033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5577840" y="4224528"/>
            <a:ext cx="3017520" cy="457200"/>
          </a:xfrm>
          <a:prstGeom prst="roundRect">
            <a:avLst>
              <a:gd name="adj" fmla="val 40000"/>
            </a:avLst>
          </a:prstGeom>
          <a:solidFill>
            <a:srgbClr val="FF2BA6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FF2BA6">
                <a:alpha val="40000"/>
              </a:srgbClr>
            </a:outerShdw>
          </a:effectLst>
        </p:spPr>
      </p:sp>
      <p:sp>
        <p:nvSpPr>
          <p:cNvPr id="113" name="Text 111"/>
          <p:cNvSpPr txBox="1"/>
          <p:nvPr/>
        </p:nvSpPr>
        <p:spPr>
          <a:xfrm>
            <a:off x="557784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weight = 13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IN THE REAL WORLD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is MST Used?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33272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// PRIM’S ALGORITHM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9697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408176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286207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60604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600200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FF2BA6"/>
          </a:solidFill>
          <a:ln w="12700">
            <a:solidFill>
              <a:srgbClr val="FF2B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0168" y="1527048"/>
            <a:ext cx="603504" cy="60350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FF2BA6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3703320" y="1600200"/>
            <a:ext cx="457200" cy="457200"/>
          </a:xfrm>
          <a:prstGeom prst="ellipse">
            <a:avLst/>
          </a:prstGeom>
          <a:solidFill>
            <a:srgbClr val="FF2BA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FF2BA6">
                <a:alpha val="4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703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 design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Cabling, telecom and power grids at minimum cost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9697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408176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286207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60604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600200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44968" y="1527048"/>
            <a:ext cx="603504" cy="60350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00E5FF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7818120" y="1600200"/>
            <a:ext cx="457200" cy="457200"/>
          </a:xfrm>
          <a:prstGeom prst="ellipse">
            <a:avLst/>
          </a:prstGeom>
          <a:solidFill>
            <a:srgbClr val="00E5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E5FF">
                <a:alpha val="4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818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Clustering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Single-linkage grouping in data science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9697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" y="3099816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08152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08152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24528" y="455371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429768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3291840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8B5CFF"/>
          </a:solidFill>
          <a:ln w="12700">
            <a:solidFill>
              <a:srgbClr val="8B5C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0168" y="3218688"/>
            <a:ext cx="603504" cy="60350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8B5CFF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3703320" y="3291840"/>
            <a:ext cx="457200" cy="457200"/>
          </a:xfrm>
          <a:prstGeom prst="ellipse">
            <a:avLst/>
          </a:prstGeom>
          <a:solidFill>
            <a:srgbClr val="8B5CF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37033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Roads &amp; pipelines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towns or sites with least material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9697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3099816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08152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8152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9328" y="455371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0" y="429768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3291840"/>
            <a:ext cx="73152" cy="10515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44968" y="3218688"/>
            <a:ext cx="603504" cy="603504"/>
          </a:xfrm>
          <a:prstGeom prst="ellipse">
            <a:avLst/>
          </a:prstGeom>
          <a:solidFill>
            <a:srgbClr val="1A1240">
              <a:alpha val="0"/>
            </a:srgbClr>
          </a:solidFill>
          <a:ln w="15875">
            <a:solidFill>
              <a:srgbClr val="FFD23F"/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7818120" y="3291840"/>
            <a:ext cx="457200" cy="457200"/>
          </a:xfrm>
          <a:prstGeom prst="ellipse">
            <a:avLst/>
          </a:prstGeom>
          <a:solidFill>
            <a:srgbClr val="FFD2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FFD23F">
                <a:alpha val="40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78181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8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51663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Approximation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516636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bound TSP and routing problems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TO REMEMBER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73152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FF2BA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033272"/>
            <a:ext cx="128016" cy="128016"/>
          </a:xfrm>
          <a:prstGeom prst="diamond">
            <a:avLst/>
          </a:prstGeom>
          <a:solidFill>
            <a:srgbClr val="FF2BA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097280"/>
            <a:ext cx="713232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 // PRIM’S ALGORITHM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07/07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8046720" cy="2514600"/>
          </a:xfrm>
          <a:prstGeom prst="roundRect">
            <a:avLst>
              <a:gd name="adj" fmla="val 5818"/>
            </a:avLst>
          </a:prstGeom>
          <a:solidFill>
            <a:srgbClr val="1A1240">
              <a:alpha val="64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8B5CFF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408176"/>
            <a:ext cx="75895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89888"/>
            <a:ext cx="256032" cy="0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9888"/>
            <a:ext cx="0" cy="256032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3867912"/>
            <a:ext cx="256032" cy="0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3611880"/>
            <a:ext cx="0" cy="256032"/>
          </a:xfrm>
          <a:prstGeom prst="line">
            <a:avLst/>
          </a:prstGeom>
          <a:noFill/>
          <a:ln w="28575">
            <a:solidFill>
              <a:srgbClr val="FF2B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1508760"/>
            <a:ext cx="7406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connects all vertices with V − 1 edges at minimum total weight.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Prim’s grows a single tree, always adding the cheapest crossing edge.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O(E log V) with a heap, or O(V²) with a matrix for dense graphs.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 edges AC, CB, BD, DE, EF give a total weight of 13.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4114800"/>
            <a:ext cx="3657600" cy="566928"/>
          </a:xfrm>
          <a:prstGeom prst="roundRect">
            <a:avLst>
              <a:gd name="adj" fmla="val 48387"/>
            </a:avLst>
          </a:prstGeom>
          <a:solidFill>
            <a:srgbClr val="FF2BA6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5400000">
              <a:srgbClr val="FF2BA6">
                <a:alpha val="4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743200" y="4114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MST using Prim’s Algorithm</dc:title>
  <dc:subject>PptxGenJS Presentation</dc:subject>
  <dc:creator>PptxGenJS</dc:creator>
  <cp:lastModifiedBy>PptxGenJS</cp:lastModifiedBy>
  <cp:revision>1</cp:revision>
  <dcterms:created xsi:type="dcterms:W3CDTF">2026-10-20T11:46:35Z</dcterms:created>
  <dcterms:modified xsi:type="dcterms:W3CDTF">2026-10-20T11:46:35Z</dcterms:modified>
</cp:coreProperties>
</file>